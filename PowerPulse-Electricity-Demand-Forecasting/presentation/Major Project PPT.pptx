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3" r:id="rId4"/>
    <p:sldId id="262" r:id="rId5"/>
    <p:sldId id="266" r:id="rId6"/>
    <p:sldId id="261" r:id="rId7"/>
    <p:sldId id="260" r:id="rId8"/>
    <p:sldId id="264" r:id="rId9"/>
    <p:sldId id="265" r:id="rId10"/>
    <p:sldId id="25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876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7D62C8-87C7-44F7-8589-76011E5ABB67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3AF5F0-B143-4CA4-922B-9753D6A08A07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dirty="0" smtClean="0">
              <a:solidFill>
                <a:schemeClr val="accent4"/>
              </a:solidFill>
            </a:rPr>
            <a:t>Data Collection</a:t>
          </a:r>
          <a:endParaRPr lang="en-US" b="1" dirty="0">
            <a:solidFill>
              <a:schemeClr val="accent4"/>
            </a:solidFill>
          </a:endParaRPr>
        </a:p>
      </dgm:t>
    </dgm:pt>
    <dgm:pt modelId="{5181924F-3435-41C1-A6CD-F8C5A378874D}" type="parTrans" cxnId="{B8223EB2-8D9B-4DE8-969B-22AD383E4BBC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BC44732A-E861-4A1A-9504-E4E7302DA20B}" type="sibTrans" cxnId="{B8223EB2-8D9B-4DE8-969B-22AD383E4BBC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6D1DDA7B-8B8C-46E6-95C1-7B995CC69171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dirty="0" smtClean="0">
              <a:solidFill>
                <a:schemeClr val="accent4"/>
              </a:solidFill>
            </a:rPr>
            <a:t>Data Preprocessing</a:t>
          </a:r>
          <a:endParaRPr lang="en-US" b="1" dirty="0">
            <a:solidFill>
              <a:schemeClr val="accent4"/>
            </a:solidFill>
          </a:endParaRPr>
        </a:p>
      </dgm:t>
    </dgm:pt>
    <dgm:pt modelId="{F55B4316-A791-46DF-A79B-234526BCB604}" type="parTrans" cxnId="{488E8665-80FE-4B81-A0F2-2B4757E1D005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57D82972-409F-4E60-9D71-FDB62F86A731}" type="sibTrans" cxnId="{488E8665-80FE-4B81-A0F2-2B4757E1D005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C12EB915-8E12-4C5B-8A13-D6FBC4B9BBC1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dirty="0" smtClean="0">
              <a:solidFill>
                <a:schemeClr val="accent4"/>
              </a:solidFill>
            </a:rPr>
            <a:t>EDA</a:t>
          </a:r>
          <a:endParaRPr lang="en-US" b="1" dirty="0">
            <a:solidFill>
              <a:schemeClr val="accent4"/>
            </a:solidFill>
          </a:endParaRPr>
        </a:p>
      </dgm:t>
    </dgm:pt>
    <dgm:pt modelId="{DC60B1D0-5434-4107-92EC-F48DCA6D565A}" type="parTrans" cxnId="{5730F6A0-0378-4F4A-B6D2-B651655C7D52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0E94B6E3-A20C-456A-A4B5-396FEBC182E9}" type="sibTrans" cxnId="{5730F6A0-0378-4F4A-B6D2-B651655C7D52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8BCEC713-5F29-4E06-AE34-459A155B78A0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dirty="0" smtClean="0">
              <a:solidFill>
                <a:schemeClr val="accent4"/>
              </a:solidFill>
            </a:rPr>
            <a:t>Model (ARIMA / Prophet)</a:t>
          </a:r>
          <a:endParaRPr lang="en-US" b="1" dirty="0">
            <a:solidFill>
              <a:schemeClr val="accent4"/>
            </a:solidFill>
          </a:endParaRPr>
        </a:p>
      </dgm:t>
    </dgm:pt>
    <dgm:pt modelId="{2377AE41-80F9-4571-AB72-772C2E964355}" type="parTrans" cxnId="{25A6D045-0C67-4CE2-8E70-C25000815491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6588FA84-2CAD-4E0F-A14F-A22B17673DC2}" type="sibTrans" cxnId="{25A6D045-0C67-4CE2-8E70-C25000815491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6800687A-7A6C-4FE1-813A-C7F2F2FEFAB7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dirty="0" smtClean="0">
              <a:solidFill>
                <a:schemeClr val="accent4"/>
              </a:solidFill>
            </a:rPr>
            <a:t>Forecast</a:t>
          </a:r>
          <a:endParaRPr lang="en-US" b="1" dirty="0">
            <a:solidFill>
              <a:schemeClr val="accent4"/>
            </a:solidFill>
          </a:endParaRPr>
        </a:p>
      </dgm:t>
    </dgm:pt>
    <dgm:pt modelId="{93586376-375C-4B1D-AD43-2606A5E39388}" type="parTrans" cxnId="{1DBC420F-CD86-4D0E-82C1-2C08EE586A9C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45666235-C282-4FBE-A004-EE91EA7CB781}" type="sibTrans" cxnId="{1DBC420F-CD86-4D0E-82C1-2C08EE586A9C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AA901FAB-4B2F-477F-9CBC-044B78CFBE4A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dirty="0" smtClean="0">
              <a:solidFill>
                <a:schemeClr val="accent4"/>
              </a:solidFill>
            </a:rPr>
            <a:t>Dashboard</a:t>
          </a:r>
          <a:endParaRPr lang="en-US" b="1" dirty="0">
            <a:solidFill>
              <a:schemeClr val="accent4"/>
            </a:solidFill>
          </a:endParaRPr>
        </a:p>
      </dgm:t>
    </dgm:pt>
    <dgm:pt modelId="{7D51F996-0615-4244-B6C8-564A69617311}" type="parTrans" cxnId="{7AA65C0D-DEEE-4DED-A334-4DB5D8892CB5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6C52ADB2-5C74-46E9-9024-609623BC8CE0}" type="sibTrans" cxnId="{7AA65C0D-DEEE-4DED-A334-4DB5D8892CB5}">
      <dgm:prSet/>
      <dgm:spPr/>
      <dgm:t>
        <a:bodyPr/>
        <a:lstStyle/>
        <a:p>
          <a:endParaRPr lang="en-US">
            <a:solidFill>
              <a:schemeClr val="accent4"/>
            </a:solidFill>
          </a:endParaRPr>
        </a:p>
      </dgm:t>
    </dgm:pt>
    <dgm:pt modelId="{5EA2C673-9E30-4F02-B637-2A106DC3215B}" type="pres">
      <dgm:prSet presAssocID="{A67D62C8-87C7-44F7-8589-76011E5ABB67}" presName="diagram" presStyleCnt="0">
        <dgm:presLayoutVars>
          <dgm:dir/>
          <dgm:resizeHandles val="exact"/>
        </dgm:presLayoutVars>
      </dgm:prSet>
      <dgm:spPr/>
    </dgm:pt>
    <dgm:pt modelId="{6D132C10-2A07-49AE-92F8-9FAAFD910DBC}" type="pres">
      <dgm:prSet presAssocID="{153AF5F0-B143-4CA4-922B-9753D6A08A07}" presName="node" presStyleLbl="node1" presStyleIdx="0" presStyleCnt="6">
        <dgm:presLayoutVars>
          <dgm:bulletEnabled val="1"/>
        </dgm:presLayoutVars>
      </dgm:prSet>
      <dgm:spPr/>
    </dgm:pt>
    <dgm:pt modelId="{CA777211-39FA-4A48-B045-8807A90D57CD}" type="pres">
      <dgm:prSet presAssocID="{BC44732A-E861-4A1A-9504-E4E7302DA20B}" presName="sibTrans" presStyleLbl="sibTrans2D1" presStyleIdx="0" presStyleCnt="5"/>
      <dgm:spPr/>
    </dgm:pt>
    <dgm:pt modelId="{FCF0F8C3-8317-4797-86D4-983CD8DE2227}" type="pres">
      <dgm:prSet presAssocID="{BC44732A-E861-4A1A-9504-E4E7302DA20B}" presName="connectorText" presStyleLbl="sibTrans2D1" presStyleIdx="0" presStyleCnt="5"/>
      <dgm:spPr/>
    </dgm:pt>
    <dgm:pt modelId="{81F15FA8-EEB6-48E6-AD47-6D597FB8D310}" type="pres">
      <dgm:prSet presAssocID="{6D1DDA7B-8B8C-46E6-95C1-7B995CC69171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6655A7-543F-49F0-BC57-6DD695401F29}" type="pres">
      <dgm:prSet presAssocID="{57D82972-409F-4E60-9D71-FDB62F86A731}" presName="sibTrans" presStyleLbl="sibTrans2D1" presStyleIdx="1" presStyleCnt="5"/>
      <dgm:spPr/>
    </dgm:pt>
    <dgm:pt modelId="{E40D052F-1F90-4CC6-AC72-8E68277C0CDF}" type="pres">
      <dgm:prSet presAssocID="{57D82972-409F-4E60-9D71-FDB62F86A731}" presName="connectorText" presStyleLbl="sibTrans2D1" presStyleIdx="1" presStyleCnt="5"/>
      <dgm:spPr/>
    </dgm:pt>
    <dgm:pt modelId="{0F091D0A-694A-4CE7-80A3-8DE9B125EB13}" type="pres">
      <dgm:prSet presAssocID="{C12EB915-8E12-4C5B-8A13-D6FBC4B9BBC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849B75-5CB2-4190-A98D-5DC00A7FACDD}" type="pres">
      <dgm:prSet presAssocID="{0E94B6E3-A20C-456A-A4B5-396FEBC182E9}" presName="sibTrans" presStyleLbl="sibTrans2D1" presStyleIdx="2" presStyleCnt="5"/>
      <dgm:spPr/>
    </dgm:pt>
    <dgm:pt modelId="{CA413B01-C622-43EE-BF8D-5480C93D92D4}" type="pres">
      <dgm:prSet presAssocID="{0E94B6E3-A20C-456A-A4B5-396FEBC182E9}" presName="connectorText" presStyleLbl="sibTrans2D1" presStyleIdx="2" presStyleCnt="5"/>
      <dgm:spPr/>
    </dgm:pt>
    <dgm:pt modelId="{9935AB76-E625-427F-B169-D7F3F62B557C}" type="pres">
      <dgm:prSet presAssocID="{8BCEC713-5F29-4E06-AE34-459A155B78A0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2DB064-7DC6-476E-8F71-AB9A3C9C7443}" type="pres">
      <dgm:prSet presAssocID="{6588FA84-2CAD-4E0F-A14F-A22B17673DC2}" presName="sibTrans" presStyleLbl="sibTrans2D1" presStyleIdx="3" presStyleCnt="5"/>
      <dgm:spPr/>
    </dgm:pt>
    <dgm:pt modelId="{F286DE26-3569-491E-AC28-FDF70643B96F}" type="pres">
      <dgm:prSet presAssocID="{6588FA84-2CAD-4E0F-A14F-A22B17673DC2}" presName="connectorText" presStyleLbl="sibTrans2D1" presStyleIdx="3" presStyleCnt="5"/>
      <dgm:spPr/>
    </dgm:pt>
    <dgm:pt modelId="{EE215C02-711F-4875-99AC-2795C7DA13E0}" type="pres">
      <dgm:prSet presAssocID="{6800687A-7A6C-4FE1-813A-C7F2F2FEFAB7}" presName="node" presStyleLbl="node1" presStyleIdx="4" presStyleCnt="6">
        <dgm:presLayoutVars>
          <dgm:bulletEnabled val="1"/>
        </dgm:presLayoutVars>
      </dgm:prSet>
      <dgm:spPr/>
    </dgm:pt>
    <dgm:pt modelId="{EDA5CB73-6A5A-4C48-802C-7882185AD9C6}" type="pres">
      <dgm:prSet presAssocID="{45666235-C282-4FBE-A004-EE91EA7CB781}" presName="sibTrans" presStyleLbl="sibTrans2D1" presStyleIdx="4" presStyleCnt="5"/>
      <dgm:spPr/>
    </dgm:pt>
    <dgm:pt modelId="{80D82595-9406-479B-B1AD-0AFB76D07CBD}" type="pres">
      <dgm:prSet presAssocID="{45666235-C282-4FBE-A004-EE91EA7CB781}" presName="connectorText" presStyleLbl="sibTrans2D1" presStyleIdx="4" presStyleCnt="5"/>
      <dgm:spPr/>
    </dgm:pt>
    <dgm:pt modelId="{E56DA402-8613-432C-869D-0BFA0D09292D}" type="pres">
      <dgm:prSet presAssocID="{AA901FAB-4B2F-477F-9CBC-044B78CFBE4A}" presName="node" presStyleLbl="node1" presStyleIdx="5" presStyleCnt="6">
        <dgm:presLayoutVars>
          <dgm:bulletEnabled val="1"/>
        </dgm:presLayoutVars>
      </dgm:prSet>
      <dgm:spPr/>
    </dgm:pt>
  </dgm:ptLst>
  <dgm:cxnLst>
    <dgm:cxn modelId="{070DA204-1E26-4AF2-BEF2-2257AFC25907}" type="presOf" srcId="{BC44732A-E861-4A1A-9504-E4E7302DA20B}" destId="{CA777211-39FA-4A48-B045-8807A90D57CD}" srcOrd="0" destOrd="0" presId="urn:microsoft.com/office/officeart/2005/8/layout/process5"/>
    <dgm:cxn modelId="{40EAA107-1C2C-44AA-8A12-9D03646538C6}" type="presOf" srcId="{153AF5F0-B143-4CA4-922B-9753D6A08A07}" destId="{6D132C10-2A07-49AE-92F8-9FAAFD910DBC}" srcOrd="0" destOrd="0" presId="urn:microsoft.com/office/officeart/2005/8/layout/process5"/>
    <dgm:cxn modelId="{42122A5D-9A15-4EC8-9684-5FE81D80F781}" type="presOf" srcId="{6D1DDA7B-8B8C-46E6-95C1-7B995CC69171}" destId="{81F15FA8-EEB6-48E6-AD47-6D597FB8D310}" srcOrd="0" destOrd="0" presId="urn:microsoft.com/office/officeart/2005/8/layout/process5"/>
    <dgm:cxn modelId="{B8223EB2-8D9B-4DE8-969B-22AD383E4BBC}" srcId="{A67D62C8-87C7-44F7-8589-76011E5ABB67}" destId="{153AF5F0-B143-4CA4-922B-9753D6A08A07}" srcOrd="0" destOrd="0" parTransId="{5181924F-3435-41C1-A6CD-F8C5A378874D}" sibTransId="{BC44732A-E861-4A1A-9504-E4E7302DA20B}"/>
    <dgm:cxn modelId="{24AB92E2-1F2C-476C-9FEE-F98B09780B56}" type="presOf" srcId="{0E94B6E3-A20C-456A-A4B5-396FEBC182E9}" destId="{CA413B01-C622-43EE-BF8D-5480C93D92D4}" srcOrd="1" destOrd="0" presId="urn:microsoft.com/office/officeart/2005/8/layout/process5"/>
    <dgm:cxn modelId="{B36C8BD0-2447-4076-BA6D-7579DA058129}" type="presOf" srcId="{45666235-C282-4FBE-A004-EE91EA7CB781}" destId="{EDA5CB73-6A5A-4C48-802C-7882185AD9C6}" srcOrd="0" destOrd="0" presId="urn:microsoft.com/office/officeart/2005/8/layout/process5"/>
    <dgm:cxn modelId="{7AA65C0D-DEEE-4DED-A334-4DB5D8892CB5}" srcId="{A67D62C8-87C7-44F7-8589-76011E5ABB67}" destId="{AA901FAB-4B2F-477F-9CBC-044B78CFBE4A}" srcOrd="5" destOrd="0" parTransId="{7D51F996-0615-4244-B6C8-564A69617311}" sibTransId="{6C52ADB2-5C74-46E9-9024-609623BC8CE0}"/>
    <dgm:cxn modelId="{1DBC420F-CD86-4D0E-82C1-2C08EE586A9C}" srcId="{A67D62C8-87C7-44F7-8589-76011E5ABB67}" destId="{6800687A-7A6C-4FE1-813A-C7F2F2FEFAB7}" srcOrd="4" destOrd="0" parTransId="{93586376-375C-4B1D-AD43-2606A5E39388}" sibTransId="{45666235-C282-4FBE-A004-EE91EA7CB781}"/>
    <dgm:cxn modelId="{30EE7026-3DA2-4FD3-AF45-0B7A88D4FC5F}" type="presOf" srcId="{BC44732A-E861-4A1A-9504-E4E7302DA20B}" destId="{FCF0F8C3-8317-4797-86D4-983CD8DE2227}" srcOrd="1" destOrd="0" presId="urn:microsoft.com/office/officeart/2005/8/layout/process5"/>
    <dgm:cxn modelId="{375A71CB-66AC-4425-9E79-1B281D9E161E}" type="presOf" srcId="{6800687A-7A6C-4FE1-813A-C7F2F2FEFAB7}" destId="{EE215C02-711F-4875-99AC-2795C7DA13E0}" srcOrd="0" destOrd="0" presId="urn:microsoft.com/office/officeart/2005/8/layout/process5"/>
    <dgm:cxn modelId="{ABC3D533-9D8E-40D3-A711-014DFC44BFFE}" type="presOf" srcId="{8BCEC713-5F29-4E06-AE34-459A155B78A0}" destId="{9935AB76-E625-427F-B169-D7F3F62B557C}" srcOrd="0" destOrd="0" presId="urn:microsoft.com/office/officeart/2005/8/layout/process5"/>
    <dgm:cxn modelId="{488E8665-80FE-4B81-A0F2-2B4757E1D005}" srcId="{A67D62C8-87C7-44F7-8589-76011E5ABB67}" destId="{6D1DDA7B-8B8C-46E6-95C1-7B995CC69171}" srcOrd="1" destOrd="0" parTransId="{F55B4316-A791-46DF-A79B-234526BCB604}" sibTransId="{57D82972-409F-4E60-9D71-FDB62F86A731}"/>
    <dgm:cxn modelId="{4E72593B-E2C9-465D-B790-DA98C30E8202}" type="presOf" srcId="{6588FA84-2CAD-4E0F-A14F-A22B17673DC2}" destId="{F286DE26-3569-491E-AC28-FDF70643B96F}" srcOrd="1" destOrd="0" presId="urn:microsoft.com/office/officeart/2005/8/layout/process5"/>
    <dgm:cxn modelId="{AB795795-B580-47C0-9A05-724285FF814C}" type="presOf" srcId="{57D82972-409F-4E60-9D71-FDB62F86A731}" destId="{E40D052F-1F90-4CC6-AC72-8E68277C0CDF}" srcOrd="1" destOrd="0" presId="urn:microsoft.com/office/officeart/2005/8/layout/process5"/>
    <dgm:cxn modelId="{A1CC3D3C-0063-4FEA-8778-659A2DB3213B}" type="presOf" srcId="{57D82972-409F-4E60-9D71-FDB62F86A731}" destId="{906655A7-543F-49F0-BC57-6DD695401F29}" srcOrd="0" destOrd="0" presId="urn:microsoft.com/office/officeart/2005/8/layout/process5"/>
    <dgm:cxn modelId="{25A6D045-0C67-4CE2-8E70-C25000815491}" srcId="{A67D62C8-87C7-44F7-8589-76011E5ABB67}" destId="{8BCEC713-5F29-4E06-AE34-459A155B78A0}" srcOrd="3" destOrd="0" parTransId="{2377AE41-80F9-4571-AB72-772C2E964355}" sibTransId="{6588FA84-2CAD-4E0F-A14F-A22B17673DC2}"/>
    <dgm:cxn modelId="{0193CCFC-5592-4E66-944E-7B4B4536BD99}" type="presOf" srcId="{C12EB915-8E12-4C5B-8A13-D6FBC4B9BBC1}" destId="{0F091D0A-694A-4CE7-80A3-8DE9B125EB13}" srcOrd="0" destOrd="0" presId="urn:microsoft.com/office/officeart/2005/8/layout/process5"/>
    <dgm:cxn modelId="{14190FB5-5626-41F5-A8C6-8972DD85B573}" type="presOf" srcId="{6588FA84-2CAD-4E0F-A14F-A22B17673DC2}" destId="{1E2DB064-7DC6-476E-8F71-AB9A3C9C7443}" srcOrd="0" destOrd="0" presId="urn:microsoft.com/office/officeart/2005/8/layout/process5"/>
    <dgm:cxn modelId="{A216F229-5D0C-4CE2-A2FF-3E905C6A3BED}" type="presOf" srcId="{A67D62C8-87C7-44F7-8589-76011E5ABB67}" destId="{5EA2C673-9E30-4F02-B637-2A106DC3215B}" srcOrd="0" destOrd="0" presId="urn:microsoft.com/office/officeart/2005/8/layout/process5"/>
    <dgm:cxn modelId="{F4F0C9DA-A673-4A7A-BE5B-E2AA49954582}" type="presOf" srcId="{0E94B6E3-A20C-456A-A4B5-396FEBC182E9}" destId="{76849B75-5CB2-4190-A98D-5DC00A7FACDD}" srcOrd="0" destOrd="0" presId="urn:microsoft.com/office/officeart/2005/8/layout/process5"/>
    <dgm:cxn modelId="{5730F6A0-0378-4F4A-B6D2-B651655C7D52}" srcId="{A67D62C8-87C7-44F7-8589-76011E5ABB67}" destId="{C12EB915-8E12-4C5B-8A13-D6FBC4B9BBC1}" srcOrd="2" destOrd="0" parTransId="{DC60B1D0-5434-4107-92EC-F48DCA6D565A}" sibTransId="{0E94B6E3-A20C-456A-A4B5-396FEBC182E9}"/>
    <dgm:cxn modelId="{373CCDFC-8AFF-4AE5-9B89-E96BCFA5216A}" type="presOf" srcId="{AA901FAB-4B2F-477F-9CBC-044B78CFBE4A}" destId="{E56DA402-8613-432C-869D-0BFA0D09292D}" srcOrd="0" destOrd="0" presId="urn:microsoft.com/office/officeart/2005/8/layout/process5"/>
    <dgm:cxn modelId="{E9286BB3-09FC-4FA0-9777-2B39226D60BB}" type="presOf" srcId="{45666235-C282-4FBE-A004-EE91EA7CB781}" destId="{80D82595-9406-479B-B1AD-0AFB76D07CBD}" srcOrd="1" destOrd="0" presId="urn:microsoft.com/office/officeart/2005/8/layout/process5"/>
    <dgm:cxn modelId="{F3176F97-BF6D-43C1-802A-B0FA23FC3C24}" type="presParOf" srcId="{5EA2C673-9E30-4F02-B637-2A106DC3215B}" destId="{6D132C10-2A07-49AE-92F8-9FAAFD910DBC}" srcOrd="0" destOrd="0" presId="urn:microsoft.com/office/officeart/2005/8/layout/process5"/>
    <dgm:cxn modelId="{0B1A494E-EA84-4598-8A4D-8F795CEF1D52}" type="presParOf" srcId="{5EA2C673-9E30-4F02-B637-2A106DC3215B}" destId="{CA777211-39FA-4A48-B045-8807A90D57CD}" srcOrd="1" destOrd="0" presId="urn:microsoft.com/office/officeart/2005/8/layout/process5"/>
    <dgm:cxn modelId="{559B9124-104D-4E04-A434-EB4B29B323EB}" type="presParOf" srcId="{CA777211-39FA-4A48-B045-8807A90D57CD}" destId="{FCF0F8C3-8317-4797-86D4-983CD8DE2227}" srcOrd="0" destOrd="0" presId="urn:microsoft.com/office/officeart/2005/8/layout/process5"/>
    <dgm:cxn modelId="{D579A826-196B-43D9-983B-65ACDD76EAC2}" type="presParOf" srcId="{5EA2C673-9E30-4F02-B637-2A106DC3215B}" destId="{81F15FA8-EEB6-48E6-AD47-6D597FB8D310}" srcOrd="2" destOrd="0" presId="urn:microsoft.com/office/officeart/2005/8/layout/process5"/>
    <dgm:cxn modelId="{9FF19659-0CFF-4AEF-B3D7-094950989E3D}" type="presParOf" srcId="{5EA2C673-9E30-4F02-B637-2A106DC3215B}" destId="{906655A7-543F-49F0-BC57-6DD695401F29}" srcOrd="3" destOrd="0" presId="urn:microsoft.com/office/officeart/2005/8/layout/process5"/>
    <dgm:cxn modelId="{D4C29A88-D522-4889-BCC0-FF852A0EAA13}" type="presParOf" srcId="{906655A7-543F-49F0-BC57-6DD695401F29}" destId="{E40D052F-1F90-4CC6-AC72-8E68277C0CDF}" srcOrd="0" destOrd="0" presId="urn:microsoft.com/office/officeart/2005/8/layout/process5"/>
    <dgm:cxn modelId="{9E69E0F1-F7AB-436A-AD50-0976DB87E590}" type="presParOf" srcId="{5EA2C673-9E30-4F02-B637-2A106DC3215B}" destId="{0F091D0A-694A-4CE7-80A3-8DE9B125EB13}" srcOrd="4" destOrd="0" presId="urn:microsoft.com/office/officeart/2005/8/layout/process5"/>
    <dgm:cxn modelId="{811E3F8E-96B5-4D28-81EA-FF40FECEDCBE}" type="presParOf" srcId="{5EA2C673-9E30-4F02-B637-2A106DC3215B}" destId="{76849B75-5CB2-4190-A98D-5DC00A7FACDD}" srcOrd="5" destOrd="0" presId="urn:microsoft.com/office/officeart/2005/8/layout/process5"/>
    <dgm:cxn modelId="{C8373641-E100-4F30-B1FA-A9D96ECCE045}" type="presParOf" srcId="{76849B75-5CB2-4190-A98D-5DC00A7FACDD}" destId="{CA413B01-C622-43EE-BF8D-5480C93D92D4}" srcOrd="0" destOrd="0" presId="urn:microsoft.com/office/officeart/2005/8/layout/process5"/>
    <dgm:cxn modelId="{9CD8AFA2-BD9E-47DC-8605-6D2243187B1D}" type="presParOf" srcId="{5EA2C673-9E30-4F02-B637-2A106DC3215B}" destId="{9935AB76-E625-427F-B169-D7F3F62B557C}" srcOrd="6" destOrd="0" presId="urn:microsoft.com/office/officeart/2005/8/layout/process5"/>
    <dgm:cxn modelId="{7B48ACF9-AFE9-40BA-A5DF-CE4985063C6A}" type="presParOf" srcId="{5EA2C673-9E30-4F02-B637-2A106DC3215B}" destId="{1E2DB064-7DC6-476E-8F71-AB9A3C9C7443}" srcOrd="7" destOrd="0" presId="urn:microsoft.com/office/officeart/2005/8/layout/process5"/>
    <dgm:cxn modelId="{70FC933B-304E-4FDC-A242-A09587C66D7A}" type="presParOf" srcId="{1E2DB064-7DC6-476E-8F71-AB9A3C9C7443}" destId="{F286DE26-3569-491E-AC28-FDF70643B96F}" srcOrd="0" destOrd="0" presId="urn:microsoft.com/office/officeart/2005/8/layout/process5"/>
    <dgm:cxn modelId="{0219407D-D8E5-4E35-B075-81190B7E2F0B}" type="presParOf" srcId="{5EA2C673-9E30-4F02-B637-2A106DC3215B}" destId="{EE215C02-711F-4875-99AC-2795C7DA13E0}" srcOrd="8" destOrd="0" presId="urn:microsoft.com/office/officeart/2005/8/layout/process5"/>
    <dgm:cxn modelId="{57CF7890-E93A-4545-A8C6-0B1D1C7BAF99}" type="presParOf" srcId="{5EA2C673-9E30-4F02-B637-2A106DC3215B}" destId="{EDA5CB73-6A5A-4C48-802C-7882185AD9C6}" srcOrd="9" destOrd="0" presId="urn:microsoft.com/office/officeart/2005/8/layout/process5"/>
    <dgm:cxn modelId="{31C18359-2EF5-41CD-8C53-426792782FE1}" type="presParOf" srcId="{EDA5CB73-6A5A-4C48-802C-7882185AD9C6}" destId="{80D82595-9406-479B-B1AD-0AFB76D07CBD}" srcOrd="0" destOrd="0" presId="urn:microsoft.com/office/officeart/2005/8/layout/process5"/>
    <dgm:cxn modelId="{3439F74E-6199-4E18-A417-AB949102475F}" type="presParOf" srcId="{5EA2C673-9E30-4F02-B637-2A106DC3215B}" destId="{E56DA402-8613-432C-869D-0BFA0D09292D}" srcOrd="10" destOrd="0" presId="urn:microsoft.com/office/officeart/2005/8/layout/process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A0A63-CD45-4F82-820C-0CCBCA6F0458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A175C-3E95-4F05-8B17-EBF35AC36A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263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5EA3-1C95-4325-AC73-141DB9666ECB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5107C-7751-465B-B887-4F8D248DF9C6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E1FF-2E17-4A0F-9167-4A951C24950C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77FB-E9A9-4037-B1CB-ADA992A3A59E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268-B119-4EA4-A88E-C89986AB687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E385-3E43-40C3-A882-FD79A463FA4B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A57B4-36E5-49B5-A4A8-4DF73BBC5676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4F30-AB6E-4D13-AC98-37C38F3FBEDC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B930-903F-4BA1-819A-CE972CE72A6B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9A08-85A0-45AE-AD03-6BB1ADED5636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F060-36F2-43D7-9F2B-2735A6D841EA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CAC55-7163-4557-8C00-89C5F56273E2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Minor Project 2025-26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36FB-87B3-494C-B1FB-4D50741888E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0C845EF-D721-9A20-7342-382912A549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495172-A063-3DB0-C6B4-FD61377C5623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66BAE53-B275-6D9E-D8B5-3242DCD9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501647"/>
          </a:xfrm>
        </p:spPr>
        <p:txBody>
          <a:bodyPr/>
          <a:lstStyle/>
          <a:p>
            <a:r>
              <a:rPr lang="en-US" dirty="0" smtClean="0"/>
              <a:t>Major </a:t>
            </a:r>
            <a:r>
              <a:rPr lang="en-US" dirty="0"/>
              <a:t>Project </a:t>
            </a:r>
            <a:r>
              <a:rPr lang="en-US" dirty="0" smtClean="0"/>
              <a:t> 2025-26</a:t>
            </a:r>
            <a:endParaRPr lang="en-US" dirty="0"/>
          </a:p>
        </p:txBody>
      </p:sp>
      <p:sp>
        <p:nvSpPr>
          <p:cNvPr id="2" name="Google Shape;526;p1">
            <a:extLst>
              <a:ext uri="{FF2B5EF4-FFF2-40B4-BE49-F238E27FC236}">
                <a16:creationId xmlns="" xmlns:a16="http://schemas.microsoft.com/office/drawing/2014/main" id="{2F1449AE-8A09-6B6F-A1EB-23D034ED3513}"/>
              </a:ext>
            </a:extLst>
          </p:cNvPr>
          <p:cNvSpPr txBox="1"/>
          <p:nvPr/>
        </p:nvSpPr>
        <p:spPr>
          <a:xfrm>
            <a:off x="2467429" y="1583855"/>
            <a:ext cx="7097485" cy="138495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PowerPulse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: 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Data-Driven Approach 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Forecasting Electricity Demand</a:t>
            </a:r>
          </a:p>
        </p:txBody>
      </p:sp>
      <p:sp>
        <p:nvSpPr>
          <p:cNvPr id="3" name="Google Shape;525;p1">
            <a:extLst>
              <a:ext uri="{FF2B5EF4-FFF2-40B4-BE49-F238E27FC236}">
                <a16:creationId xmlns="" xmlns:a16="http://schemas.microsoft.com/office/drawing/2014/main" id="{BD912808-FDEF-B2C7-94A3-E760023BC1C9}"/>
              </a:ext>
            </a:extLst>
          </p:cNvPr>
          <p:cNvSpPr txBox="1"/>
          <p:nvPr/>
        </p:nvSpPr>
        <p:spPr>
          <a:xfrm>
            <a:off x="1320801" y="4412341"/>
            <a:ext cx="9782627" cy="203128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1" wrap="square" lIns="91425" tIns="45700" rIns="91425" bIns="45700" numCol="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Tanishka Dabas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Enr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No. 0201220096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	</a:t>
            </a: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/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Name: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Varish Jamal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Enr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No. 0201220141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 VII Sem 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DS</a:t>
            </a:r>
          </a:p>
          <a:p>
            <a:pPr lvl="0"/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/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Name: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Syed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Irfan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Enr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No. 0201220096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 Tech VII Sem DS</a:t>
            </a:r>
            <a:endParaRPr lang="en-US" sz="1800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Guide: Mr. </a:t>
            </a:r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Raghunandan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Hada</a:t>
            </a: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Coordinator: Prof. (Dr) Om </a:t>
            </a:r>
            <a:r>
              <a:rPr lang="en-US" sz="1800" b="1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Prakash</a:t>
            </a:r>
            <a:r>
              <a:rPr lang="en-US" sz="18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Sharma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200433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79939BC-DCF8-DB78-11CF-658F1F36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514ECF3-CED6-4599-810C-DFAA83C929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E4F9AD0-1B2B-AE5D-FA9D-E935D258B9A9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49A1FBB-09AB-3BAE-F14B-F0382D48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7" name="Google Shape;532;p2">
            <a:extLst>
              <a:ext uri="{FF2B5EF4-FFF2-40B4-BE49-F238E27FC236}">
                <a16:creationId xmlns="" xmlns:a16="http://schemas.microsoft.com/office/drawing/2014/main" id="{A8A8BB0A-CE37-9870-6748-540DFED3750E}"/>
              </a:ext>
            </a:extLst>
          </p:cNvPr>
          <p:cNvSpPr txBox="1">
            <a:spLocks noGrp="1"/>
          </p:cNvSpPr>
          <p:nvPr/>
        </p:nvSpPr>
        <p:spPr>
          <a:xfrm>
            <a:off x="1277257" y="1524000"/>
            <a:ext cx="5123544" cy="4717142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1" wrap="square" lIns="0" tIns="45700" rIns="0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1440" lvl="0" indent="-1270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000"/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Table of Content</a:t>
            </a:r>
          </a:p>
          <a:p>
            <a:pPr marL="91440" lvl="0" indent="-1270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000"/>
              <a:buNone/>
            </a:pPr>
            <a:endParaRPr lang="en-US" sz="2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 Introduction</a:t>
            </a:r>
            <a:endParaRPr sz="2400" smtClean="0">
              <a:solidFill>
                <a:schemeClr val="tx1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Problem Statement</a:t>
            </a:r>
            <a:endParaRPr sz="2400">
              <a:solidFill>
                <a:schemeClr val="tx1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Project Objectives</a:t>
            </a:r>
            <a:endParaRPr sz="2400">
              <a:solidFill>
                <a:schemeClr val="tx1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Proposed Methodology</a:t>
            </a: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Software Requirements</a:t>
            </a: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Hardware Requirements</a:t>
            </a:r>
            <a:endParaRPr sz="2400" b="1">
              <a:solidFill>
                <a:schemeClr val="tx1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Expected Outcomes</a:t>
            </a:r>
            <a:endParaRPr sz="2400">
              <a:solidFill>
                <a:schemeClr val="tx1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 smtClean="0">
                <a:solidFill>
                  <a:schemeClr val="tx1"/>
                </a:solidFill>
              </a:rPr>
              <a:t>Future Scopes</a:t>
            </a:r>
            <a:endParaRPr sz="2400">
              <a:solidFill>
                <a:schemeClr val="tx1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Pts val="2000"/>
              <a:buFont typeface="Wingdings" pitchFamily="2" charset="2"/>
              <a:buChar char="v"/>
            </a:pPr>
            <a:r>
              <a:rPr lang="en-US" sz="2400" b="1" dirty="0">
                <a:solidFill>
                  <a:schemeClr val="tx1"/>
                </a:solidFill>
              </a:rPr>
              <a:t>References</a:t>
            </a:r>
            <a:endParaRPr sz="2400">
              <a:solidFill>
                <a:schemeClr val="tx1"/>
              </a:solidFill>
            </a:endParaRPr>
          </a:p>
          <a:p>
            <a:pPr marL="9144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bg1"/>
              </a:buClr>
              <a:buSzPts val="2000"/>
              <a:buFont typeface="Wingdings" pitchFamily="2" charset="2"/>
              <a:buChar char="v"/>
            </a:pPr>
            <a:endParaRPr/>
          </a:p>
        </p:txBody>
      </p:sp>
      <p:pic>
        <p:nvPicPr>
          <p:cNvPr id="9224" name="Picture 8" descr="Power Pulse October 2025 │ Progress towards Clean Power 2030"/>
          <p:cNvPicPr>
            <a:picLocks noGrp="1" noChangeAspect="1" noChangeArrowheads="1"/>
          </p:cNvPicPr>
          <p:nvPr>
            <p:ph type="pic" idx="1"/>
          </p:nvPr>
        </p:nvPicPr>
        <p:blipFill>
          <a:blip r:embed="rId3" cstate="print"/>
          <a:srcRect t="1982" b="1982"/>
          <a:stretch>
            <a:fillRect/>
          </a:stretch>
        </p:blipFill>
        <p:spPr bwMode="auto">
          <a:xfrm>
            <a:off x="6371771" y="1527175"/>
            <a:ext cx="4813603" cy="46994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3912605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9EC5FE0-BAC7-F562-6B7C-2BBA79F4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/>
          <p:cNvSpPr/>
          <p:nvPr/>
        </p:nvSpPr>
        <p:spPr>
          <a:xfrm>
            <a:off x="1015999" y="943428"/>
            <a:ext cx="10203543" cy="5036457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D00A0C1-2243-DA50-34DE-ED8AE2261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3695015-3C06-4836-1345-017979A9141D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7222B0B-413A-5DCD-A302-C4D57CDE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38;p3">
            <a:extLst>
              <a:ext uri="{FF2B5EF4-FFF2-40B4-BE49-F238E27FC236}">
                <a16:creationId xmlns="" xmlns:a16="http://schemas.microsoft.com/office/drawing/2014/main" id="{A105326B-35F1-B8F9-40C3-599FDC63317A}"/>
              </a:ext>
            </a:extLst>
          </p:cNvPr>
          <p:cNvSpPr txBox="1">
            <a:spLocks noGrp="1"/>
          </p:cNvSpPr>
          <p:nvPr/>
        </p:nvSpPr>
        <p:spPr>
          <a:xfrm>
            <a:off x="1955856" y="1518863"/>
            <a:ext cx="8349288" cy="444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Electricity consumption forecasting is essential for efficient energy planning and sustainable power management. </a:t>
            </a:r>
          </a:p>
          <a:p>
            <a:pPr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Accurate prediction of energy usage helps in reducing wastage, controlling costs, and ensuring proper resource allocation.</a:t>
            </a:r>
          </a:p>
          <a:p>
            <a:pPr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This project analyses historical electricity consumption data and develops a time-series forecasting model to predict future energy demand. </a:t>
            </a:r>
          </a:p>
          <a:p>
            <a:pPr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An interactive dashboard </a:t>
            </a:r>
            <a:r>
              <a:rPr lang="en-US" dirty="0" err="1" smtClean="0"/>
              <a:t>visualises</a:t>
            </a:r>
            <a:r>
              <a:rPr lang="en-US" dirty="0" smtClean="0"/>
              <a:t> trends and forecasted values.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31380406"/>
      </p:ext>
    </p:extLst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F125FA3-1C9A-9F0F-4AC2-E77B1D78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CB08FE0-386A-FFA0-1103-6359E1F0C2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247ED2B-4ABA-EA16-E53C-98DE9179675D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6F0DD28-D240-4E23-59BE-65AA5321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44;p4">
            <a:extLst>
              <a:ext uri="{FF2B5EF4-FFF2-40B4-BE49-F238E27FC236}">
                <a16:creationId xmlns="" xmlns:a16="http://schemas.microsoft.com/office/drawing/2014/main" id="{BF268D99-CA42-2B5B-FA3B-3F7C8B1EB176}"/>
              </a:ext>
            </a:extLst>
          </p:cNvPr>
          <p:cNvSpPr txBox="1">
            <a:spLocks noGrp="1"/>
          </p:cNvSpPr>
          <p:nvPr/>
        </p:nvSpPr>
        <p:spPr>
          <a:xfrm>
            <a:off x="478971" y="1596571"/>
            <a:ext cx="5210629" cy="402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Electricity consumption varies due to seasonal and human factors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Traditional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methods fail to capture complex patterns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accurate,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data-driven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94400" y="1190170"/>
            <a:ext cx="5733143" cy="4871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537770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F125FA3-1C9A-9F0F-4AC2-E77B1D78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CB08FE0-386A-FFA0-1103-6359E1F0C2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247ED2B-4ABA-EA16-E53C-98DE9179675D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6F0DD28-D240-4E23-59BE-65AA5321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44;p4">
            <a:extLst>
              <a:ext uri="{FF2B5EF4-FFF2-40B4-BE49-F238E27FC236}">
                <a16:creationId xmlns="" xmlns:a16="http://schemas.microsoft.com/office/drawing/2014/main" id="{BF268D99-CA42-2B5B-FA3B-3F7C8B1EB176}"/>
              </a:ext>
            </a:extLst>
          </p:cNvPr>
          <p:cNvSpPr txBox="1">
            <a:spLocks noGrp="1"/>
          </p:cNvSpPr>
          <p:nvPr/>
        </p:nvSpPr>
        <p:spPr>
          <a:xfrm>
            <a:off x="493486" y="1219200"/>
            <a:ext cx="6720114" cy="509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Approaches/ Related 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ARIMA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AutoRegressive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Integrated Moving Average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statistical model for time series data. It's well-established and good for linear trends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Exponential Smoothing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time series forecasting method for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univariate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data. It's good for trends and seasonality and is adaptable to various data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Prophet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(from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Facebook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procedure for forecasting time series data based on an additive model where non-linear trends are fit with yearly, weekly, and daily seasonality, plus holiday effects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 descr="PowerPulse: Solar Solutions for your Business | Standard Ban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1854" y="1741713"/>
            <a:ext cx="4088946" cy="43043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7537770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B42BAA7-2AA6-6857-C17E-C66C6C39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D187A2E-88A3-6A28-C1A2-B0FAD5FED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E60A9E9-9F8D-DCED-AA34-1A83EA042EF4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E591B1C-C869-D26B-156E-22A67831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50;p5">
            <a:extLst>
              <a:ext uri="{FF2B5EF4-FFF2-40B4-BE49-F238E27FC236}">
                <a16:creationId xmlns="" xmlns:a16="http://schemas.microsoft.com/office/drawing/2014/main" id="{6EF6AC35-5461-2590-0392-C27F2A052C1D}"/>
              </a:ext>
            </a:extLst>
          </p:cNvPr>
          <p:cNvSpPr txBox="1">
            <a:spLocks noGrp="1"/>
          </p:cNvSpPr>
          <p:nvPr/>
        </p:nvSpPr>
        <p:spPr>
          <a:xfrm>
            <a:off x="3585029" y="1245102"/>
            <a:ext cx="4455886" cy="68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Proposed Methodology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" name="Diagram 28"/>
          <p:cNvGraphicFramePr/>
          <p:nvPr/>
        </p:nvGraphicFramePr>
        <p:xfrm>
          <a:off x="1132118" y="2278743"/>
          <a:ext cx="9869709" cy="3802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="" xmlns:p14="http://schemas.microsoft.com/office/powerpoint/2010/main" val="3187179534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EC6F5E8-6E0E-0BDF-B89C-3A856E58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B021CE2-4B67-B07F-4B25-9D13C37821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2FBE174-5C88-C7F6-7FBA-953CDABA2482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2FBE822-B20F-E895-8C22-24195B95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56;p6">
            <a:extLst>
              <a:ext uri="{FF2B5EF4-FFF2-40B4-BE49-F238E27FC236}">
                <a16:creationId xmlns="" xmlns:a16="http://schemas.microsoft.com/office/drawing/2014/main" id="{972E18D3-7769-E6DE-BA6C-A4F7BB1162B4}"/>
              </a:ext>
            </a:extLst>
          </p:cNvPr>
          <p:cNvSpPr txBox="1">
            <a:spLocks noGrp="1"/>
          </p:cNvSpPr>
          <p:nvPr/>
        </p:nvSpPr>
        <p:spPr>
          <a:xfrm>
            <a:off x="203200" y="1103086"/>
            <a:ext cx="6560457" cy="496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Font typeface="Arial" pitchFamily="34" charset="0"/>
              <a:buChar char="•"/>
            </a:pPr>
            <a:r>
              <a:rPr lang="en-US" sz="2400" dirty="0" smtClean="0"/>
              <a:t>As evidenced by the results, the Prophet model consistently outperformed ARIMA across all evaluated metrics</a:t>
            </a:r>
            <a:r>
              <a:rPr lang="en-US" sz="2400" dirty="0" smtClean="0"/>
              <a:t>.</a:t>
            </a:r>
          </a:p>
          <a:p>
            <a:pPr algn="l">
              <a:buClrTx/>
              <a:buFont typeface="Arial" pitchFamily="34" charset="0"/>
              <a:buChar char="•"/>
            </a:pPr>
            <a:r>
              <a:rPr lang="en-US" sz="2400" dirty="0" smtClean="0"/>
              <a:t>Prophet achieved lower RMSE, MAE, </a:t>
            </a:r>
            <a:r>
              <a:rPr lang="en-US" sz="2400" dirty="0" smtClean="0"/>
              <a:t>MAPE</a:t>
            </a:r>
          </a:p>
          <a:p>
            <a:pPr algn="l">
              <a:buClrTx/>
              <a:buFont typeface="Arial" pitchFamily="34" charset="0"/>
              <a:buChar char="•"/>
            </a:pPr>
            <a:r>
              <a:rPr lang="en-US" sz="2400" dirty="0" smtClean="0"/>
              <a:t>Better </a:t>
            </a:r>
            <a:r>
              <a:rPr lang="en-US" sz="2400" dirty="0" smtClean="0"/>
              <a:t>handling of </a:t>
            </a:r>
            <a:r>
              <a:rPr lang="en-US" sz="2400" dirty="0" smtClean="0"/>
              <a:t>seasonality</a:t>
            </a:r>
          </a:p>
          <a:p>
            <a:pPr algn="l">
              <a:buClrTx/>
              <a:buFont typeface="Arial" pitchFamily="34" charset="0"/>
              <a:buChar char="•"/>
            </a:pPr>
            <a:r>
              <a:rPr lang="en-US" sz="2400" dirty="0" smtClean="0"/>
              <a:t>More </a:t>
            </a:r>
            <a:r>
              <a:rPr lang="en-US" sz="2400" dirty="0" smtClean="0"/>
              <a:t>accurate real-world predictions.</a:t>
            </a:r>
            <a:endParaRPr lang="en-US" sz="2400" dirty="0" smtClean="0"/>
          </a:p>
          <a:p>
            <a:pPr algn="l">
              <a:buClrTx/>
              <a:buFont typeface="Arial" pitchFamily="34" charset="0"/>
              <a:buChar char="•"/>
            </a:pPr>
            <a:r>
              <a:rPr lang="en-US" sz="2400" dirty="0" smtClean="0"/>
              <a:t>This </a:t>
            </a:r>
            <a:r>
              <a:rPr lang="en-US" sz="2400" dirty="0" smtClean="0"/>
              <a:t>validates our data-driven approach and highlights Prophet's robustness in handling real-world time series challenges</a:t>
            </a:r>
            <a:r>
              <a:rPr lang="en-US" sz="2400" dirty="0" smtClean="0"/>
              <a:t>.</a:t>
            </a:r>
            <a:endParaRPr lang="en-US" sz="22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42627" y="4557488"/>
          <a:ext cx="4557486" cy="19013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19162"/>
                <a:gridCol w="1519162"/>
                <a:gridCol w="1519162"/>
              </a:tblGrid>
              <a:tr h="475342">
                <a:tc>
                  <a:txBody>
                    <a:bodyPr/>
                    <a:lstStyle/>
                    <a:p>
                      <a:r>
                        <a:rPr lang="en-US" dirty="0" smtClean="0"/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ARIMA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Prophet</a:t>
                      </a:r>
                      <a:endParaRPr lang="en-US" dirty="0"/>
                    </a:p>
                  </a:txBody>
                  <a:tcPr/>
                </a:tc>
              </a:tr>
              <a:tr h="475342">
                <a:tc>
                  <a:txBody>
                    <a:bodyPr/>
                    <a:lstStyle/>
                    <a:p>
                      <a:r>
                        <a:rPr lang="en-US" dirty="0" smtClean="0"/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12.8</a:t>
                      </a:r>
                      <a:endParaRPr lang="en-US" dirty="0"/>
                    </a:p>
                  </a:txBody>
                  <a:tcPr/>
                </a:tc>
              </a:tr>
              <a:tr h="475342">
                <a:tc>
                  <a:txBody>
                    <a:bodyPr/>
                    <a:lstStyle/>
                    <a:p>
                      <a:r>
                        <a:rPr lang="en-US" dirty="0" smtClean="0"/>
                        <a:t>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8.9</a:t>
                      </a:r>
                      <a:endParaRPr lang="en-US" dirty="0"/>
                    </a:p>
                  </a:txBody>
                  <a:tcPr/>
                </a:tc>
              </a:tr>
              <a:tr h="475342">
                <a:tc>
                  <a:txBody>
                    <a:bodyPr/>
                    <a:lstStyle/>
                    <a:p>
                      <a:r>
                        <a:rPr lang="en-US" dirty="0" smtClean="0"/>
                        <a:t>MAPE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7.8%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6.2%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3598" y="1063237"/>
            <a:ext cx="4630059" cy="3267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323470079"/>
      </p:ext>
    </p:extLst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20D2345-7C2A-84CC-1F61-2B2C7E7B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BF1A17D-9796-049B-7F05-C7FAF5D77D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F73574-7D61-EC80-3BD0-80CD6C4C1F9C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8043DC8-B73D-B548-590B-25450412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62;p7">
            <a:extLst>
              <a:ext uri="{FF2B5EF4-FFF2-40B4-BE49-F238E27FC236}">
                <a16:creationId xmlns="" xmlns:a16="http://schemas.microsoft.com/office/drawing/2014/main" id="{B80497C7-E59A-9D3E-AE75-7FF41A869DD5}"/>
              </a:ext>
            </a:extLst>
          </p:cNvPr>
          <p:cNvSpPr txBox="1">
            <a:spLocks noGrp="1"/>
          </p:cNvSpPr>
          <p:nvPr/>
        </p:nvSpPr>
        <p:spPr>
          <a:xfrm>
            <a:off x="827314" y="4165600"/>
            <a:ext cx="10355943" cy="2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12459" y="1407881"/>
            <a:ext cx="5326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Expected Outcomes</a:t>
            </a:r>
            <a:endParaRPr lang="en-US" sz="3200" dirty="0" smtClean="0"/>
          </a:p>
        </p:txBody>
      </p:sp>
      <p:sp>
        <p:nvSpPr>
          <p:cNvPr id="14" name="Rounded Rectangle 13"/>
          <p:cNvSpPr/>
          <p:nvPr/>
        </p:nvSpPr>
        <p:spPr>
          <a:xfrm>
            <a:off x="1640115" y="2691564"/>
            <a:ext cx="3991427" cy="1362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Forecasted Values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Accurate electricity consumption predictions for future periods using validated 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611085" y="4360707"/>
            <a:ext cx="4020458" cy="1362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Pattern Identification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Detection of seasonal patterns and consumption trends in energy usage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66970" y="2662534"/>
            <a:ext cx="3976915" cy="1362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Anomaly Detection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Identification of unusual energy consumption patterns and outliers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37944" y="4360706"/>
            <a:ext cx="4064000" cy="1362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Interactive Dashboard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User-friendly visualization interface for exploring historical data and forecasts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655742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94CD94-0B40-A422-08D5-875FE110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C5EA0C1-161D-3431-3C1E-8F18ECD82C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15F5857-246D-59B7-4945-F860E544FE43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03ADDCC-14FB-F39C-3229-99DF945C1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46058" y="6492875"/>
            <a:ext cx="3860800" cy="365125"/>
          </a:xfrm>
        </p:spPr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49029" y="1088571"/>
            <a:ext cx="2699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Future Scopes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08914" y="2090058"/>
            <a:ext cx="2685144" cy="22642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Real-Time </a:t>
            </a:r>
            <a:r>
              <a:rPr lang="en-US" sz="2000" b="1" dirty="0" smtClean="0">
                <a:solidFill>
                  <a:schemeClr val="tx1"/>
                </a:solidFill>
              </a:rPr>
              <a:t>Integration</a:t>
            </a:r>
            <a:endParaRPr lang="en-US" sz="2000" b="1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Integration with live smart meter data for continuous forecasting</a:t>
            </a:r>
          </a:p>
          <a:p>
            <a:pPr algn="ctr"/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6037943" y="4601029"/>
            <a:ext cx="5704114" cy="14441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Web Application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Deployment as scalable web-based service for broader accessibility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7256" y="2068286"/>
            <a:ext cx="2786744" cy="22424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Deep Learning Models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Implementation of advanced LSTM neural networks for improved accuracy</a:t>
            </a:r>
          </a:p>
        </p:txBody>
      </p:sp>
      <p:sp>
        <p:nvSpPr>
          <p:cNvPr id="20" name="Flowchart: Connector 19"/>
          <p:cNvSpPr/>
          <p:nvPr/>
        </p:nvSpPr>
        <p:spPr>
          <a:xfrm>
            <a:off x="6995884" y="1799771"/>
            <a:ext cx="667658" cy="5515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 b="1" dirty="0">
              <a:solidFill>
                <a:schemeClr val="tx1"/>
              </a:solidFill>
            </a:endParaRPr>
          </a:p>
        </p:txBody>
      </p:sp>
      <p:sp>
        <p:nvSpPr>
          <p:cNvPr id="21" name="Flowchart: Connector 20"/>
          <p:cNvSpPr/>
          <p:nvPr/>
        </p:nvSpPr>
        <p:spPr>
          <a:xfrm>
            <a:off x="9935027" y="1792514"/>
            <a:ext cx="667658" cy="5515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Flowchart: Connector 21"/>
          <p:cNvSpPr/>
          <p:nvPr/>
        </p:nvSpPr>
        <p:spPr>
          <a:xfrm>
            <a:off x="8461826" y="4354285"/>
            <a:ext cx="667658" cy="55154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3" name="Picture 22" descr="h-tPbqeLm8Oz8SmUiH0Y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01486"/>
            <a:ext cx="5863772" cy="58565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029519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76D76A-8618-51BF-1BC2-7F771704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32DEECE-49B2-DFF7-7BE0-0699DEB651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22FAED8-923F-49BB-52F5-60A1139DBF53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FEB5F50-C29B-AB7D-2E3E-31F868B7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2" name="Google Shape;574;p9">
            <a:extLst>
              <a:ext uri="{FF2B5EF4-FFF2-40B4-BE49-F238E27FC236}">
                <a16:creationId xmlns="" xmlns:a16="http://schemas.microsoft.com/office/drawing/2014/main" id="{9FD55199-752B-A090-307B-8EDE2FFD4928}"/>
              </a:ext>
            </a:extLst>
          </p:cNvPr>
          <p:cNvSpPr txBox="1">
            <a:spLocks noGrp="1"/>
          </p:cNvSpPr>
          <p:nvPr/>
        </p:nvSpPr>
        <p:spPr>
          <a:xfrm>
            <a:off x="1204686" y="1503921"/>
            <a:ext cx="9753601" cy="465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Font typeface="Courier New" pitchFamily="49" charset="0"/>
              <a:buChar char="o"/>
            </a:pPr>
            <a:r>
              <a:rPr lang="en-US" sz="2400" dirty="0" smtClean="0"/>
              <a:t>Box, G. E. P., Jenkins, G. M., </a:t>
            </a:r>
            <a:r>
              <a:rPr lang="en-US" sz="2400" dirty="0" err="1" smtClean="0"/>
              <a:t>Reinsel</a:t>
            </a:r>
            <a:r>
              <a:rPr lang="en-US" sz="2400" dirty="0" smtClean="0"/>
              <a:t>, G. C., &amp; </a:t>
            </a:r>
            <a:r>
              <a:rPr lang="en-US" sz="2400" dirty="0" err="1" smtClean="0"/>
              <a:t>Ljung</a:t>
            </a:r>
            <a:r>
              <a:rPr lang="en-US" sz="2400" dirty="0" smtClean="0"/>
              <a:t>, G. M. (2015). </a:t>
            </a:r>
            <a:r>
              <a:rPr lang="en-US" sz="2400" i="1" dirty="0" smtClean="0"/>
              <a:t>Time Series Analysis: Forecasting and Control</a:t>
            </a:r>
            <a:r>
              <a:rPr lang="en-US" sz="2400" dirty="0" smtClean="0"/>
              <a:t> (5th ed.). Wiley. (Classic reference for ARIMA models)</a:t>
            </a:r>
          </a:p>
          <a:p>
            <a:pPr algn="just">
              <a:buClrTx/>
              <a:buFont typeface="Courier New" pitchFamily="49" charset="0"/>
              <a:buChar char="o"/>
            </a:pPr>
            <a:r>
              <a:rPr lang="en-US" sz="2400" dirty="0" smtClean="0"/>
              <a:t>Taylor, S. J., &amp; </a:t>
            </a:r>
            <a:r>
              <a:rPr lang="en-US" sz="2400" dirty="0" err="1" smtClean="0"/>
              <a:t>Letham</a:t>
            </a:r>
            <a:r>
              <a:rPr lang="en-US" sz="2400" dirty="0" smtClean="0"/>
              <a:t>, B. (2018). Forecasting at Scale. </a:t>
            </a:r>
            <a:r>
              <a:rPr lang="en-US" sz="2400" i="1" dirty="0" smtClean="0"/>
              <a:t>The American Statistician</a:t>
            </a:r>
            <a:r>
              <a:rPr lang="en-US" sz="2400" dirty="0" smtClean="0"/>
              <a:t>, 72(1), 37–45. (Introduces the Prophet forecasting model by </a:t>
            </a:r>
            <a:r>
              <a:rPr lang="en-US" sz="2400" dirty="0" err="1" smtClean="0"/>
              <a:t>Facebook</a:t>
            </a:r>
            <a:r>
              <a:rPr lang="en-US" sz="2400" dirty="0" smtClean="0"/>
              <a:t>)</a:t>
            </a:r>
          </a:p>
          <a:p>
            <a:pPr algn="just">
              <a:buClrTx/>
              <a:buFont typeface="Courier New" pitchFamily="49" charset="0"/>
              <a:buChar char="o"/>
            </a:pPr>
            <a:r>
              <a:rPr lang="en-US" sz="2400" dirty="0" smtClean="0"/>
              <a:t>Hyndman, R. J., &amp; </a:t>
            </a:r>
            <a:r>
              <a:rPr lang="en-US" sz="2400" dirty="0" err="1" smtClean="0"/>
              <a:t>Athanasopoulos</a:t>
            </a:r>
            <a:r>
              <a:rPr lang="en-US" sz="2400" dirty="0" smtClean="0"/>
              <a:t>, G. (2018). </a:t>
            </a:r>
            <a:r>
              <a:rPr lang="en-US" sz="2400" i="1" dirty="0" smtClean="0"/>
              <a:t>Forecasting: Principles and Practice</a:t>
            </a:r>
            <a:r>
              <a:rPr lang="en-US" sz="2400" dirty="0" smtClean="0"/>
              <a:t> (2nd ed.). </a:t>
            </a:r>
            <a:r>
              <a:rPr lang="en-US" sz="2400" dirty="0" err="1" smtClean="0"/>
              <a:t>OTexts</a:t>
            </a:r>
            <a:r>
              <a:rPr lang="en-US" sz="2400" dirty="0" smtClean="0"/>
              <a:t>. (Comprehensive guide to forecasting methods, including ARIMA and other time series techniques</a:t>
            </a:r>
            <a:r>
              <a:rPr lang="en-US" sz="2400" dirty="0" smtClean="0"/>
              <a:t>)</a:t>
            </a:r>
            <a:endParaRPr lang="en-US" sz="2400" dirty="0" smtClean="0"/>
          </a:p>
          <a:p>
            <a:pPr algn="just">
              <a:buClrTx/>
              <a:buFont typeface="Courier New" pitchFamily="49" charset="0"/>
              <a:buChar char="o"/>
            </a:pPr>
            <a:r>
              <a:rPr lang="en-US" sz="2400" dirty="0" smtClean="0"/>
              <a:t>Hong, T., Pinson, P., &amp; Fan, S. (2016). Global Energy Forecasting Competition 2014: Wind and Solar Forecasting. </a:t>
            </a:r>
            <a:r>
              <a:rPr lang="en-US" sz="2400" i="1" dirty="0" smtClean="0"/>
              <a:t>International Journal of Forecasting</a:t>
            </a:r>
            <a:r>
              <a:rPr lang="en-US" sz="2400" dirty="0" smtClean="0"/>
              <a:t>, 32(3), 898–907. (Relevant work in energy forecasting competitions and methodologies</a:t>
            </a:r>
            <a:r>
              <a:rPr lang="en-US" sz="2400" dirty="0" smtClean="0"/>
              <a:t>)</a:t>
            </a:r>
            <a:endParaRPr lang="en-US" sz="2400" dirty="0" smtClean="0"/>
          </a:p>
          <a:p>
            <a:pPr algn="just">
              <a:buClrTx/>
              <a:buFont typeface="Courier New" pitchFamily="49" charset="0"/>
              <a:buChar char="o"/>
            </a:pPr>
            <a:r>
              <a:rPr lang="en-US" sz="2400" dirty="0" smtClean="0"/>
              <a:t>Ahmed, N., Al-</a:t>
            </a:r>
            <a:r>
              <a:rPr lang="en-US" sz="2400" dirty="0" err="1" smtClean="0"/>
              <a:t>Fuqaha</a:t>
            </a:r>
            <a:r>
              <a:rPr lang="en-US" sz="2400" dirty="0" smtClean="0"/>
              <a:t>, A., &amp; </a:t>
            </a:r>
            <a:r>
              <a:rPr lang="en-US" sz="2400" dirty="0" err="1" smtClean="0"/>
              <a:t>Guizani</a:t>
            </a:r>
            <a:r>
              <a:rPr lang="en-US" sz="2400" dirty="0" smtClean="0"/>
              <a:t>, M. (2020). Machine Learning for Electricity Demand Forecasting: A Review. </a:t>
            </a:r>
            <a:r>
              <a:rPr lang="en-US" sz="2400" i="1" dirty="0" smtClean="0"/>
              <a:t>IEEE Access</a:t>
            </a:r>
            <a:r>
              <a:rPr lang="en-US" sz="2400" dirty="0" smtClean="0"/>
              <a:t>, 8, 172901–172918. (Review of machine learning techniques applied to electricity demand forecasting</a:t>
            </a:r>
            <a:r>
              <a:rPr lang="en-US" sz="2400" dirty="0" smtClean="0"/>
              <a:t>)</a:t>
            </a:r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93830719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B8A026A-3A51-337F-8A07-5AA64E68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1585DC2-A3C9-CE6E-14D4-F7E2CBBD6E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2" y="224482"/>
            <a:ext cx="2828924" cy="6800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2B1790B-791E-7D00-2FE7-4691D13DEF27}"/>
              </a:ext>
            </a:extLst>
          </p:cNvPr>
          <p:cNvSpPr txBox="1"/>
          <p:nvPr/>
        </p:nvSpPr>
        <p:spPr>
          <a:xfrm>
            <a:off x="3854244" y="309959"/>
            <a:ext cx="717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86CF553-7DE0-D934-A66F-187E8221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Major Project  2025-26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30514" y="2561893"/>
            <a:ext cx="9942286" cy="221599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3800" b="1" dirty="0" smtClean="0">
                <a:latin typeface="Bradley Hand ITC" pitchFamily="66" charset="0"/>
              </a:rPr>
              <a:t>  Thank You</a:t>
            </a:r>
            <a:endParaRPr lang="en-US" sz="13800" b="1" dirty="0"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5880971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3077</TotalTime>
  <Words>467</Words>
  <Application>Microsoft Office PowerPoint</Application>
  <PresentationFormat>Custom</PresentationFormat>
  <Paragraphs>122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Naresh Sharma</dc:creator>
  <cp:lastModifiedBy>ssc</cp:lastModifiedBy>
  <cp:revision>119</cp:revision>
  <dcterms:created xsi:type="dcterms:W3CDTF">2025-12-05T16:08:21Z</dcterms:created>
  <dcterms:modified xsi:type="dcterms:W3CDTF">2026-04-06T15:50:22Z</dcterms:modified>
</cp:coreProperties>
</file>